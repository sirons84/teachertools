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TEACHERTOOLS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🗣️  AI 토론 수업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49039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교사의 손을 덜고, 모든 학생에게 맞춤 토론 경험을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주제 한 줄 → 학습문제 · 지도안 · 토론 · 관찰 · 평가 · 생기부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토론 수업은 왜 어려운가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교사가 가장 많이 꺾이는 지점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2287" y="1828800"/>
            <a:ext cx="35661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2287" y="210312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2287" y="31089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준비 부담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607" y="365760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학습문제 · 지도안 · 평가지를 수업마다 새로 작성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767" y="1828800"/>
            <a:ext cx="35661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12767" y="210312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2767" y="31089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관찰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7087" y="365760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30명 학생 개별 발언을 실시간 기록·평가하기 어려움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3247" y="1828800"/>
            <a:ext cx="356616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3247" y="2103120"/>
            <a:ext cx="3566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3247" y="310896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기록 부담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7567" y="3657600"/>
            <a:ext cx="3017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학생별 생기부 문구 쓰다 보면 다음 수업 준비는 뒷전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9E0B"/>
                </a:solidFill>
                <a:latin typeface="맑은 고딕"/>
                <a:ea typeface="맑은 고딕"/>
                <a:cs typeface="맑은 고딕"/>
              </a:rPr>
              <a:t>➜   결국: “토론이 좋은 건 아는데, 현실에서 못 돌린다”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2 /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TeacherTools · AI 토론 수업 설계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솔루션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토론 수업 전체 사이클을 AI가 자동화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743200"/>
            <a:ext cx="2926080" cy="1463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22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수업 주제
한 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3474720.0"/>
            <a:ext cx="731520" cy="0.0"/>
          </a:xfrm>
          <a:prstGeom prst="line">
            <a:avLst/>
          </a:prstGeom>
          <a:ln w="381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663440" y="2743200"/>
            <a:ext cx="2926080" cy="146304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6단계
오케스트레이션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80960" y="3474720.0"/>
            <a:ext cx="731520" cy="0.0"/>
          </a:xfrm>
          <a:prstGeom prst="line">
            <a:avLst/>
          </a:prstGeom>
          <a:ln w="381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12480" y="2743200"/>
            <a:ext cx="2926080" cy="146304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22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완성된 수업
+ 학생별 생기부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교사는 “검토·승인”하는 자리로 이동. AI는 초안·관찰·평가를 준비.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최종 판단은 언제나 교사가 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3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TeacherTools · AI 토론 수업 설계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6단계 자동 생성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각 단계마다 교사 승인 체크포인트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6916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학습문제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1508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AI가 주제에 맞는
3안 제안 → 선택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2103120"/>
            <a:ext cx="16916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23160" y="237744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0175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지도안·평가지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3520440"/>
            <a:ext cx="1508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지도안 · 루브릭 ·
이원목적분류표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103120"/>
            <a:ext cx="1691640" cy="2560320"/>
          </a:xfrm>
          <a:prstGeom prst="roundRect">
            <a:avLst/>
          </a:prstGeom>
          <a:solidFill>
            <a:srgbClr val="4F46E5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37744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175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토론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520440"/>
            <a:ext cx="1508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학생 5명이 각자
AI와 1:1 토론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103120"/>
            <a:ext cx="16916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37744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0175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과정 관찰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520440"/>
            <a:ext cx="1508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학생별 5개 기준
관찰 점수화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2103120"/>
            <a:ext cx="1691640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37744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0175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평가 판정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3520440"/>
            <a:ext cx="1508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상/중/하 + 총점
+ 근거 인용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2103120"/>
            <a:ext cx="1691640" cy="2560320"/>
          </a:xfrm>
          <a:prstGeom prst="roundRect">
            <a:avLst/>
          </a:prstGeom>
          <a:solidFill>
            <a:srgbClr val="4F46E5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37744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017520"/>
            <a:ext cx="1508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생기부 초안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520440"/>
            <a:ext cx="1508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학생별 누가기록
+ 교과학습발달상황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맑은 고딕"/>
                <a:ea typeface="맑은 고딕"/>
                <a:cs typeface="맑은 고딕"/>
              </a:rPr>
              <a:t>승인 게이트: ① 학습문제 선택,  ⑤ 평가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교사가 승인하지 않으면 다음 단계로 넘어가지 않음.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4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TeacherTools · AI 토론 수업 설계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학생 5명이 동시에, 각자 AI와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핵심 기능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6692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🔗  교사는 QR 코드 5개를 한 번에 생성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📱  학생이 각자 폰으로 QR 스캔 → 본인 쓰레드 접속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🎯  학생은 찬성/반대 입장을 직접 선택하고 토론 시작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👀  교사는 한 화면에서 5명의 진행 상황 실시간 확인</a:t>
            </a:r>
          </a:p>
          <a:p>
            <a:pPr algn="l">
              <a:lnSpc>
                <a:spcPct val="150000"/>
              </a:lnSpc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🔄  학생은 “새로 시작하기”로 리셋 가능
   (이전 대화는 교사 기록에 남음)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920240"/>
            <a:ext cx="48463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19456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AI 토론 대시보드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651760"/>
            <a:ext cx="13716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2834640"/>
            <a:ext cx="7315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61188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#1 김민수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76732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찬성 · 진행중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651760"/>
            <a:ext cx="13716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5400" y="2834640"/>
            <a:ext cx="7315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61188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#2 이지은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76732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0B981"/>
                </a:solidFill>
                <a:latin typeface="맑은 고딕"/>
                <a:ea typeface="맑은 고딕"/>
                <a:cs typeface="맑은 고딕"/>
              </a:rPr>
              <a:t>반대 · 완료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651760"/>
            <a:ext cx="13716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378440" y="2834640"/>
            <a:ext cx="7315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361188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#3 박서준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376732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찬성 · 진행중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114800"/>
            <a:ext cx="13716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4297680"/>
            <a:ext cx="7315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507492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#4 최유나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23036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대기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4114800"/>
            <a:ext cx="1371600" cy="1325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5400" y="4297680"/>
            <a:ext cx="73152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5074920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#5 정한결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230368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반대 · 진행중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5 /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TeacherTools · AI 토론 수업 설계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교사 옆에 AI 조교 한 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핵심 기능 ②: AI 오케스트레이터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94360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🧭  5명 쓰레드 상태를 15초마다 스캔
    → 요약 + 다음 행동 추천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💬  자연어 명령·피드백 채팅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    “3,4번 토론 종료해줘”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    “2번 태도 좋았어, 결과 상”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🛠️  AI가 해석 후 실제로 실행: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    • 토론 종료 / 재시작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    • 평가 등급 덮어쓰기</a:t>
            </a:r>
          </a:p>
          <a:p>
            <a:pPr algn="l">
              <a:lnSpc>
                <a:spcPct val="135000"/>
              </a:lnSpc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     • 교사 메모 → 평가·생기부에 자동 반영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920240"/>
            <a:ext cx="466344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🧭 AI 오케스트레이터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42316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3명 완료, 2명 진행 중 (2번 3분째 입력 없음)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74320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💡 2번 학생 상태 확인 / 나머지 완료 후 A4 실행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291840"/>
            <a:ext cx="3200400" cy="41148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3,4번 토론 종료해줘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840480"/>
            <a:ext cx="3840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l"/>
            <a:r>
              <a:rPr sz="10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3번, 4번 학생 토론을 종료했습니다.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4480560"/>
            <a:ext cx="1645920" cy="27432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9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토론 종료 · 3,4번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5029200"/>
            <a:ext cx="3657600" cy="41148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2번 태도 좋았어, 결과 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5577840"/>
            <a:ext cx="3840480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0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2번 평가 상, 태도 메모 추가했습니다.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6 /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TeacherTools · AI 토론 수업 설계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AI는 도구, 최종 판단은 교사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핵심 기능 ③: 교사 주도성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22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✏️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8745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루브릭 직접 편집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96596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AI가 만든 평가기준을 교사가 자신의 학급·수준에 맞게 수정 가능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971800"/>
            <a:ext cx="731520" cy="731520"/>
          </a:xfrm>
          <a:prstGeom prst="ellipse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22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92608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재생성·다시 제안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175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학습문제 마음에 안 들면 다시 제안, 평가도 재생성 가능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23360"/>
            <a:ext cx="731520" cy="731520"/>
          </a:xfrm>
          <a:prstGeom prst="ellipse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22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🗣️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9776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정성 피드백 주입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06908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교사가 관찰한 정성적 평가를 AI 평가·생기부에 자동 반영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074920"/>
            <a:ext cx="731520" cy="731520"/>
          </a:xfrm>
          <a:prstGeom prst="ellipse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22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승인 게이트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512064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학습문제 선택, 평가 판정 단계에서 교사 명시적 승인 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7 / 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TeacherTools · AI 토론 수업 설계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Agentic AI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Perceive → Plan → Act → Observe 루프 기반 다중 에이전트 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68880"/>
            <a:ext cx="1554480" cy="17373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👩‍🏫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교사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8620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목표 · 감독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1554480"/>
            <a:ext cx="4572000" cy="39319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719072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🧭  ORCHESTRATOR AGENT (LLM)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103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자율적 의사결정 · 툴 호출 · 하위 에이전트 지휘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514600"/>
            <a:ext cx="1920240" cy="10515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1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① PERCEIVE  지각
상태·교사 메시지 읽기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514600"/>
            <a:ext cx="1920240" cy="10515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1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② PLAN (LLM)  계획
의도 분석 · 액션 선택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206240"/>
            <a:ext cx="1920240" cy="105156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ACT  실행
툴 호출 · 하위 에이전트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206240"/>
            <a:ext cx="1920240" cy="1051560"/>
          </a:xfrm>
          <a:prstGeom prst="roundRect">
            <a:avLst/>
          </a:prstGeom>
          <a:solidFill>
            <a:srgbClr val="E0E7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1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④ OBSERVE  관찰
결과 · 새 상태 확인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80560" y="3040380.0"/>
            <a:ext cx="274320" cy="0.0"/>
          </a:xfrm>
          <a:prstGeom prst="line">
            <a:avLst/>
          </a:prstGeom>
          <a:ln w="254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715000.0" y="3566160"/>
            <a:ext cx="0.0" cy="640080"/>
          </a:xfrm>
          <a:prstGeom prst="line">
            <a:avLst/>
          </a:prstGeom>
          <a:ln w="254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480560" y="4732020.0"/>
            <a:ext cx="274320" cy="0.0"/>
          </a:xfrm>
          <a:prstGeom prst="line">
            <a:avLst/>
          </a:prstGeom>
          <a:ln w="254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520440.0" y="3566160"/>
            <a:ext cx="0.0" cy="640080"/>
          </a:xfrm>
          <a:prstGeom prst="line">
            <a:avLst/>
          </a:prstGeom>
          <a:ln w="254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78040" y="1554480"/>
            <a:ext cx="228600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64592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맑은 고딕"/>
                <a:ea typeface="맑은 고딕"/>
                <a:cs typeface="맑은 고딕"/>
              </a:rPr>
              <a:t>🛠️  TOOLS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011680"/>
            <a:ext cx="1965960" cy="1280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•  finishThreads(idx)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•  restartThreads(idx)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•  addNote(idx, note)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•  setGrade(idx, grade)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3520440"/>
            <a:ext cx="22860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361188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🤖  SUB-AGENTS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977640"/>
            <a:ext cx="1965960" cy="1463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•  A1 학습문제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•  A2 지도안 · 평가지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•  A3 토론 × 5 (병렬)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•  A4 관찰  /  A5 평가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•  A6 생기부 초안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1554480"/>
            <a:ext cx="2240280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60" y="1645920"/>
            <a:ext cx="2240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🌐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1965960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학생 × 5 (모바일)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12680" y="2331720"/>
            <a:ext cx="1691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📱  학생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80" y="2898648"/>
            <a:ext cx="1691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📱  학생 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12680" y="3465576"/>
            <a:ext cx="1691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📱  학생 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12680" y="4032504"/>
            <a:ext cx="1691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📱  학생 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12680" y="4599432"/>
            <a:ext cx="169164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1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📱  학생 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669280"/>
            <a:ext cx="11521440" cy="685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760720"/>
            <a:ext cx="3200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💾 MEMORY (shared)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5833872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맑은 고딕"/>
                <a:ea typeface="맑은 고딕"/>
                <a:cs typeface="맑은 고딕"/>
              </a:rPr>
              <a:t>세션 상태 · 쓰레드 대화 × 5 · 채팅 히스토리 · 교사 메모 · 평가 덮어쓰기 · 전체 대화 로그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011680" y="2971800"/>
            <a:ext cx="320040" cy="228600"/>
          </a:xfrm>
          <a:prstGeom prst="line">
            <a:avLst/>
          </a:prstGeom>
          <a:ln w="254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 flipV="1">
            <a:off x="2011680" y="3749040"/>
            <a:ext cx="320040" cy="365760"/>
          </a:xfrm>
          <a:prstGeom prst="line">
            <a:avLst/>
          </a:prstGeom>
          <a:ln w="254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029968" y="2651760"/>
            <a:ext cx="283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명령·피드백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29968" y="3840480"/>
            <a:ext cx="2834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6903720" y="2377440"/>
            <a:ext cx="274320" cy="365760"/>
          </a:xfrm>
          <a:prstGeom prst="line">
            <a:avLst/>
          </a:prstGeom>
          <a:ln w="25400">
            <a:solidFill>
              <a:srgbClr val="F59E0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922008" y="246888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59E0B"/>
                </a:solidFill>
                <a:latin typeface="맑은 고딕"/>
                <a:ea typeface="맑은 고딕"/>
                <a:cs typeface="맑은 고딕"/>
              </a:rPr>
              <a:t>invoke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6903720" y="4434840"/>
            <a:ext cx="274320" cy="45720"/>
          </a:xfrm>
          <a:prstGeom prst="line">
            <a:avLst/>
          </a:prstGeom>
          <a:ln w="25400">
            <a:solidFill>
              <a:srgbClr val="4F46E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922008" y="4297680"/>
            <a:ext cx="237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delegate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9464040" y="3474720"/>
            <a:ext cx="274320" cy="1143000"/>
          </a:xfrm>
          <a:prstGeom prst="line">
            <a:avLst/>
          </a:prstGeom>
          <a:ln w="1905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9464040" y="4023360"/>
            <a:ext cx="274320" cy="960120"/>
          </a:xfrm>
          <a:prstGeom prst="line">
            <a:avLst/>
          </a:prstGeom>
          <a:ln w="1905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473184" y="4297680"/>
            <a:ext cx="256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A3 대화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520440.0" y="5486400"/>
            <a:ext cx="0.0" cy="182880"/>
          </a:xfrm>
          <a:prstGeom prst="line">
            <a:avLst/>
          </a:prstGeom>
          <a:ln w="19050">
            <a:solidFill>
              <a:srgbClr val="10B98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703320.0" y="5486400"/>
            <a:ext cx="0.0" cy="182880"/>
          </a:xfrm>
          <a:prstGeom prst="line">
            <a:avLst/>
          </a:prstGeom>
          <a:ln w="19050">
            <a:solidFill>
              <a:srgbClr val="10B98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321040.0" y="5486400"/>
            <a:ext cx="0.0" cy="182880"/>
          </a:xfrm>
          <a:prstGeom prst="line">
            <a:avLst/>
          </a:prstGeom>
          <a:ln w="19050">
            <a:solidFill>
              <a:srgbClr val="10B981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8 / 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TeacherTools · AI 토론 수업 설계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교사 시간 기준 한 차시 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실제 소요 시간 예시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74520"/>
            <a:ext cx="548640" cy="54864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수업 전 (1분)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828800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주제 한 줄 입력 → 학습문제 3안 중 선택 후 승인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43200"/>
            <a:ext cx="548640" cy="54864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69748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수업 전 (2분)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97480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지도안·루브릭 검토, 필요 시 루브릭 항목·설명 수정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611880"/>
            <a:ext cx="548640" cy="54864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5661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수업 중 (15분)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566160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QR 5개 배포 → 학생 개별 토론
오케스트레이터가 진행 상태·경고를 교사 화면에 표시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4348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수업 중 필요 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434840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자연어 명령: “3번 종료”, “2번 결과 상” 등으로 실시간 개입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0000" rIns="40000" tIns="40000" bIns="40000"/>
          <a:lstStyle/>
          <a:p>
            <a:pPr algn="ctr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035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수업 후 (2분)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5303520"/>
            <a:ext cx="79552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학생별 평가 탭 확인 → 필요 시 수정 → 생기부 초안 복사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6126480"/>
            <a:ext cx="11064240" cy="4572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교사가 직접 쓰는 시간: 학습문제 선택 + 승인 + 필요 시 조정  ≈  5분 내외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9 /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TeacherTools · AI 토론 수업 설계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무엇이 달라지는가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교사 경험 · 학생 경험 · 기록의 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651760" cy="50292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항목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828800"/>
            <a:ext cx="2286000" cy="50292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Before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828800"/>
            <a:ext cx="2468880" cy="50292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92024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After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383280" cy="50292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 변화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77440"/>
            <a:ext cx="26517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수업 준비 시간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2377440"/>
            <a:ext cx="22860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56032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30분+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237744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06440" y="25603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5분 내외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2377440"/>
            <a:ext cx="33832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학습문제·지도안·평가지 자동화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46120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42900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토론 빈도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3246120"/>
            <a:ext cx="2286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342900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분기별 이벤트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324612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06440" y="342900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일상 수업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24612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34290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준비 부담 제거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114800"/>
            <a:ext cx="265176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9768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평가 공정성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91840" y="4114800"/>
            <a:ext cx="22860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429768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교사 기억 의존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0" y="4114800"/>
            <a:ext cx="24688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06440" y="42976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AI 관찰 기록 + 교사 정성 판단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114800"/>
            <a:ext cx="338328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42976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근거 인용까지 자동 추출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983480"/>
            <a:ext cx="26517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16636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생기부 작성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0" y="4983480"/>
            <a:ext cx="22860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5166360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백지에서 시작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0" y="498348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516636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3630A3"/>
                </a:solidFill>
                <a:latin typeface="맑은 고딕"/>
                <a:ea typeface="맑은 고딕"/>
                <a:cs typeface="맑은 고딕"/>
              </a:rPr>
              <a:t>학생별 초안에서 시작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4983480"/>
            <a:ext cx="33832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516636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교사 메모도 자동 반영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TeacherTools · AI 토론 수업 설계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MVP 이후 확장 계획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188720" cy="50292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MVP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221284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현재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19456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학생 5명 고정 / 단일 토론 / 기본 오케스트레이터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80360"/>
            <a:ext cx="1188720" cy="502920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99008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97180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학생 수 가변 (2~30명) / 쓰레드 분할 배정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188720" cy="50292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v1.5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76732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+α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4904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이전 시도 보기 · 학생별 승인 세분화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188720" cy="50292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262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54456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중기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52628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학급 누적 데이터 / 학기 전체 생기부 합본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1188720" cy="50292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32180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장기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530352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토론 외 다양한 수업 템플릿 (프로젝트·발표·실험)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11 /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TeacherTools · AI 토론 수업 설계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감사합니다.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교사의 토론 수업을, 한 번 더 가능하게.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4F46E5"/>
                </a:solidFill>
                <a:latin typeface="맑은 고딕"/>
                <a:ea typeface="맑은 고딕"/>
                <a:cs typeface="맑은 고딕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TeacherTools · AI 토론 수업 설계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